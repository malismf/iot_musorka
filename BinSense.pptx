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Проект BinSense: система мониторинга заполненности мусорных контейнеров. Датчик на ESP32 живёт под крышкой контейнера и работает от одного аккумулятора около полугода.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Расписание не знает, что происходит во дворе. Отсюда две ошибки сразу: лишние рейсы и переполненные контейнеры.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Цикл устройства: проснуться, померить, решить, нужно ли отправлять, отправить и уснуть. Отправка по изменению, а не по таймеру, — главное решение по энергопотреблению.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Брокер, приёмник данных, база, API, бот и Grafana. Всё поднимается одной командой docker compose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деталь — плата с малым током сна и ключ питания датчика. Без ключа датчик ест миллиамперы круглосуточно.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Девять деталей: основание, крышка, уплотнитель, две вставки под датчик, кронштейн, держатель магнита, толкатель кнопки и световод.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Эти три вещи выяснились не сразу: первая версия была с винтами внутри контура и пазом в крышке.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Вся обвязка на месте: подтяжки, делители, ключи, фильтрующие конденсаторы. Делитель батареи нарисован пунктиром — он уже распаян на плате.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Каждое из трёх решений экономит ток. Вместе они превращают две недели работы в полгода.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Монтажная схема нужна не меньше принципиальной: по ней собирают, а не по принципиальной.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Цифры замерены мультиметром в разрыве провода от аккумулятора.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решения, которые отличают протокол для спящего устройства от обычного MQTT-клиента.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React, Leaflet и Chart.js. Состояние приложения — в одном месте, сетевые вызовы — через один модуль.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Бот сделан на aiogram. Правила, по которым рождаются события, — чистые функции, покрытые тестами.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Сценарий проверен на стенде целиком: от подготовки устройства до первой телеметрии на карте.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необязательный пункт задания, но без него не видно, что устройство начало просыпаться чаще, чем должно.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Почти каждая строка здесь — это день работы. Показываю их специально: конечная конструкция без них выглядит как удача.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Честно разделяю: что прогнано на стенде и что осталось. Корпус смоделирован и проверен геометрически, но ещё не напечатан.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Роли разделены по каталогам репозитория, поэтому работа шла параллельно и без конфликтов.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 за внимание.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50" kern="0" dirty="0">
                <a:solidFill>
                  <a:srgbClr val="5FC08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КУРСОВОЙ ПРОЕКТ · ИНТЕРНЕТ ВЕЩЕЙ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294890"/>
            <a:ext cx="10883392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00"/>
              </a:lnSpc>
              <a:buNone/>
            </a:pPr>
            <a:r>
              <a:rPr lang="en-US" sz="7500" b="1" dirty="0">
                <a:solidFill>
                  <a:srgbClr val="EAF2E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BinSense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812800" y="3425190"/>
            <a:ext cx="7717790" cy="755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dirty="0">
                <a:solidFill>
                  <a:srgbClr val="A7BF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Мусорные контейнеры сами сообщают, когда их пора вывозить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12800" y="5388610"/>
            <a:ext cx="3418501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5FC08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≈ 6 месяцев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12800" y="5839460"/>
            <a:ext cx="3418501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A7BF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работы от одного аккумулятора 18650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36533" y="5388610"/>
            <a:ext cx="3418501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5FC08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99 тестов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436533" y="5839460"/>
            <a:ext cx="3418501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A7BF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48 на сервере, 51 на логике прошивки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60267" y="5388610"/>
            <a:ext cx="3418501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5FC08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 человека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060267" y="5839460"/>
            <a:ext cx="3418501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A7BF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электроника, сервер, интерфейс и корпус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919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Вывоз по расписанию промахивается в обе стороны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989455"/>
            <a:ext cx="3380317" cy="3849370"/>
          </a:xfrm>
          <a:prstGeom prst="roundRect">
            <a:avLst>
              <a:gd name="adj" fmla="val 3287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7750" y="2221230"/>
            <a:ext cx="300427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Пустые рейсы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47750" y="2553970"/>
            <a:ext cx="3004270" cy="688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Мусоровоз объезжает контейнеры, до которых ещё неделя. Топливо и время водителя уходят впустую.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05842" y="1989455"/>
            <a:ext cx="3380317" cy="3849370"/>
          </a:xfrm>
          <a:prstGeom prst="roundRect">
            <a:avLst>
              <a:gd name="adj" fmla="val 3287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37617" y="2221230"/>
            <a:ext cx="300427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Переполнение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37617" y="2553970"/>
            <a:ext cx="3004270" cy="90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Контейнер во дворе с высокой проходимостью переполняется за два дня, а по графику его вывезут в пятницу.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95708" y="1989455"/>
            <a:ext cx="3380317" cy="3849370"/>
          </a:xfrm>
          <a:prstGeom prst="roundRect">
            <a:avLst>
              <a:gd name="adj" fmla="val 3287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7483" y="2221230"/>
            <a:ext cx="300427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Нет данных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7483" y="2553970"/>
            <a:ext cx="3004270" cy="688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Диспетчер не знает, что происходит во дворах, пока не позвонят жильцы. Планировать не на чем.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39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1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66400" y="6238239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1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919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Устройство измеряет уровень и молчит, пока нечего сказать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986280"/>
            <a:ext cx="91567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Ультразвуковой датчик под крышкой контейнера меряет расстояние до мусора. Данные уходят по MQTT только когда заполненность изменилась заметно — это главная экономия батареи.</a:t>
            </a:r>
            <a:endParaRPr lang="en-US" sz="1500" dirty="0"/>
          </a:p>
        </p:txBody>
      </p:sp>
      <p:pic>
        <p:nvPicPr>
          <p:cNvPr id="4" name="Image 0" descr="Цикл работы устройства из пяти шагов">    </p:cNvPr>
          <p:cNvPicPr>
            <a:picLocks noChangeAspect="1"/>
          </p:cNvPicPr>
          <p:nvPr/>
        </p:nvPicPr>
        <p:blipFill>
          <a:blip r:embed="rId1"/>
          <a:srcRect l="0" r="0" t="-37" b="-37"/>
          <a:stretch/>
        </p:blipFill>
        <p:spPr>
          <a:xfrm>
            <a:off x="812800" y="2799080"/>
            <a:ext cx="10033000" cy="133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441198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Интервал опроса и порог изменения задаются с сервера и меняются без перепрошивки.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6238239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1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Решение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566400" y="6238239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1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Архитектура: пять сервисов и одна база</a:t>
            </a:r>
            <a:endParaRPr lang="en-US" sz="3200" dirty="0"/>
          </a:p>
        </p:txBody>
      </p:sp>
      <p:pic>
        <p:nvPicPr>
          <p:cNvPr id="3" name="Image 0" descr="Схема обмена данными между частями системы">    </p:cNvPr>
          <p:cNvPicPr>
            <a:picLocks noChangeAspect="1"/>
          </p:cNvPicPr>
          <p:nvPr/>
        </p:nvPicPr>
        <p:blipFill>
          <a:blip r:embed="rId1"/>
          <a:srcRect l="0" r="0" t="-2" b="-2"/>
          <a:stretch/>
        </p:blipFill>
        <p:spPr>
          <a:xfrm>
            <a:off x="812800" y="1539239"/>
            <a:ext cx="10033000" cy="330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51206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Обновления в реальном времени сделаны без Redis: ingestor делает pg_notify, API слушает канал и рассылает по WebSocket.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12800" y="6238239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1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Архитектура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66400" y="6238239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1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Что внутри устройства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539239"/>
          <a:ext cx="6985000" cy="2889250"/>
        </p:xfrm>
        <a:graphic>
          <a:graphicData uri="http://schemas.openxmlformats.org/drawingml/2006/table">
            <a:tbl>
              <a:tblPr/>
              <a:tblGrid>
                <a:gridCol w="1117600"/>
                <a:gridCol w="1816100"/>
                <a:gridCol w="4051300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023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Узел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023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Что стоит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023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Почему так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8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023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Мозг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LOLIN D32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малый ток сна, зарядка и делитель на плате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023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Датчик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A02YYUW, UART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влагозащищённый, не боится конденсата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023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Питание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18650 + ключ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датчик выключается на время сна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023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Крышка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геркон + магнит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замер только при закрытой крышке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023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Монтаж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кнопка и RGB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калибровка и индикация на месте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023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Связь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Wi-Fi, MQTT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QoS 1: устройство знает, что дошло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080375" y="1542414"/>
            <a:ext cx="3295650" cy="2068830"/>
          </a:xfrm>
          <a:prstGeom prst="roundRect">
            <a:avLst>
              <a:gd name="adj" fmla="val 5371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312150" y="1774189"/>
            <a:ext cx="291706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Ток во сне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312150" y="2106929"/>
            <a:ext cx="2917063" cy="688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20–150 мкА с выключенным датчиком. На обычном DevKit было бы 5–10 мА — та же батарея села бы за две недели.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080375" y="3769996"/>
            <a:ext cx="3295650" cy="2068830"/>
          </a:xfrm>
          <a:prstGeom prst="roundRect">
            <a:avLst>
              <a:gd name="adj" fmla="val 5371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12150" y="4001771"/>
            <a:ext cx="291706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Цикл отправки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312150" y="4334511"/>
            <a:ext cx="2917063" cy="688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Пробуждение на 3 секунды при 120 мА — около 0.1 мА·ч. При интервале 15 минут это примерно 10 мА·ч в сутки.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2800" y="6238239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1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Устройство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66400" y="6238239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1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Корпус описан кодом, а не нарисован мышью</a:t>
            </a:r>
            <a:endParaRPr lang="en-US" sz="3200" dirty="0"/>
          </a:p>
        </p:txBody>
      </p:sp>
      <p:pic>
        <p:nvPicPr>
          <p:cNvPr id="3" name="Image 0" descr="Чертёж расположения элементов внутри корпуса">    </p:cNvPr>
          <p:cNvPicPr>
            <a:picLocks noChangeAspect="1"/>
          </p:cNvPicPr>
          <p:nvPr/>
        </p:nvPicPr>
        <p:blipFill>
          <a:blip r:embed="rId1"/>
          <a:srcRect l="0" r="0" t="-45" b="-45"/>
          <a:stretch/>
        </p:blipFill>
        <p:spPr>
          <a:xfrm>
            <a:off x="819150" y="1823721"/>
            <a:ext cx="3670300" cy="3733800"/>
          </a:xfrm>
          <a:prstGeom prst="roundRect">
            <a:avLst>
              <a:gd name="adj" fmla="val 1903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815975" y="1820546"/>
            <a:ext cx="3676650" cy="3740150"/>
          </a:xfrm>
          <a:prstGeom prst="roundRect">
            <a:avLst>
              <a:gd name="adj" fmla="val 1986"/>
            </a:avLst>
          </a:prstGeom>
          <a:noFill/>
          <a:ln w="6350">
            <a:solidFill>
              <a:srgbClr val="D6DED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775200" y="2519679"/>
            <a:ext cx="68021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Все размеры лежат в одном файле параметров. </a:t>
            </a:r>
            <a:r>
              <a:rPr lang="en-US" sz="1500" b="1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build.py</a:t>
            </a:r>
            <a:r>
              <a:rPr lang="en-US" sz="15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собирает девять STL и четыре чертежа, включая этот. Чертёж не может разойтись с моделью: он строится из тех же чисел.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775200" y="3459479"/>
            <a:ext cx="68021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Перед выгрузкой каждая деталь проверяется на замкнутость и целостность — деталь, распавшаяся на два куска, до принтера не доедет.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775200" y="4399279"/>
            <a:ext cx="6802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C64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Пунктиром показан габарит колодок Dupont: провод с колодкой занимает больше места, чем кажется, и это частая причина переделки корпуса.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2800" y="6238239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1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Корпус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66400" y="6238239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1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Три решения, которые видно только в разрезе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42414"/>
            <a:ext cx="3380317" cy="4296410"/>
          </a:xfrm>
          <a:prstGeom prst="roundRect">
            <a:avLst>
              <a:gd name="adj" fmla="val 3287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7750" y="1774189"/>
            <a:ext cx="3004270" cy="51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Винты снаружи уплотнителя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47750" y="2350771"/>
            <a:ext cx="3004270" cy="90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Шесть М3 идут по фланцу за пазом. Поставь винты внутри контура — вода пойдёт внутрь по резьбе, и уплотнитель потеряет смысл.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05842" y="1542414"/>
            <a:ext cx="3380317" cy="4296410"/>
          </a:xfrm>
          <a:prstGeom prst="roundRect">
            <a:avLst>
              <a:gd name="adj" fmla="val 3287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37617" y="1774189"/>
            <a:ext cx="3004270" cy="51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Паз — в основании, не в крышке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37617" y="2350771"/>
            <a:ext cx="3004270" cy="90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Так обе половины печатаются без поддержек: у основания паз открыт вверх, у крышки низ ровный. Шнур при сборке лежит сам.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95708" y="1542414"/>
            <a:ext cx="3380317" cy="4296410"/>
          </a:xfrm>
          <a:prstGeom prst="roundRect">
            <a:avLst>
              <a:gd name="adj" fmla="val 3287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7483" y="1774189"/>
            <a:ext cx="300427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Кнопка — в торцевой стенке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7483" y="2106929"/>
            <a:ext cx="3004270" cy="688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Крышка прижата кронштейном к крышке контейнера. Сверху до кнопки просто не дотянуться.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39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1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Корпус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66400" y="6238239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1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238242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1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Схемотехника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1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812800"/>
            <a:ext cx="10883392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Принципиальная схема со всей обвязкой</a:t>
            </a:r>
            <a:endParaRPr lang="en-US" sz="2400" dirty="0"/>
          </a:p>
        </p:txBody>
      </p:sp>
      <p:pic>
        <p:nvPicPr>
          <p:cNvPr id="5" name="Image 0" descr="Принципиальная электрическая схема устройства">    </p:cNvPr>
          <p:cNvPicPr>
            <a:picLocks noChangeAspect="1"/>
          </p:cNvPicPr>
          <p:nvPr/>
        </p:nvPicPr>
        <p:blipFill>
          <a:blip r:embed="rId1"/>
          <a:srcRect l="-47" r="-47" t="0" b="0"/>
          <a:stretch/>
        </p:blipFill>
        <p:spPr>
          <a:xfrm>
            <a:off x="819150" y="1435100"/>
            <a:ext cx="6337300" cy="4318000"/>
          </a:xfrm>
          <a:prstGeom prst="roundRect">
            <a:avLst>
              <a:gd name="adj" fmla="val 1618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5975" y="1431925"/>
            <a:ext cx="6343650" cy="4324350"/>
          </a:xfrm>
          <a:prstGeom prst="roundRect">
            <a:avLst>
              <a:gd name="adj" fmla="val 1689"/>
            </a:avLst>
          </a:prstGeom>
          <a:noFill/>
          <a:ln w="6350">
            <a:solidFill>
              <a:srgbClr val="D6DED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91400" y="1428750"/>
            <a:ext cx="3898138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Схема генерируется из той же таблицы распиновки, что и документация: править нужно один список, а не три картинки.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91400" y="2249171"/>
            <a:ext cx="3898138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Блоки соединены именами цепей, а не проводами через весь лист — так схема читается без линейки.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91400" y="3069589"/>
            <a:ext cx="389813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Второй лист — вариант прототипа на HC-SR04 с делителем Echo.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Три решения, за которые отвечает схема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42417"/>
            <a:ext cx="3380317" cy="4296410"/>
          </a:xfrm>
          <a:prstGeom prst="roundRect">
            <a:avLst>
              <a:gd name="adj" fmla="val 3287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7750" y="1774192"/>
            <a:ext cx="300427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Ключ питания датчика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47750" y="2106929"/>
            <a:ext cx="3004270" cy="1351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Датчик в покое ест несколько миллиампер — в тысячи раз больше, чем ESP32 во сне. Резистор 10 кОм держит затвор у питания, пока выводы спящего ESP32 в высокоимпедансном состоянии.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05842" y="1542417"/>
            <a:ext cx="3380317" cy="4296410"/>
          </a:xfrm>
          <a:prstGeom prst="roundRect">
            <a:avLst>
              <a:gd name="adj" fmla="val 3287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37617" y="1774192"/>
            <a:ext cx="300427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Подтяжка геркона 1 МОм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37617" y="2106929"/>
            <a:ext cx="3004270" cy="90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Крышка почти всегда закрыта, геркон замкнут. Через 10 кОм тёк бы ток 330 мкА — больше, чем ест вся плата во сне. Через 1 МОм течёт 3.3 мкА.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95708" y="1542417"/>
            <a:ext cx="3380317" cy="4296410"/>
          </a:xfrm>
          <a:prstGeom prst="roundRect">
            <a:avLst>
              <a:gd name="adj" fmla="val 3287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7483" y="1774192"/>
            <a:ext cx="300427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Батарея на GPIO35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7483" y="2106929"/>
            <a:ext cx="3004270" cy="688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Напряжение меряется только выводами ADC1. ADC2 не работает, когда включён Wi-Fi, — на этом легко потерять день.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42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1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Схемотехника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1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9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Монтажная схема: что куда паяется</a:t>
            </a:r>
            <a:endParaRPr lang="en-US" sz="3200" dirty="0"/>
          </a:p>
        </p:txBody>
      </p:sp>
      <p:pic>
        <p:nvPicPr>
          <p:cNvPr id="3" name="Image 0" descr="Монтажная схема шилда и проводов к плате">    </p:cNvPr>
          <p:cNvPicPr>
            <a:picLocks noChangeAspect="1"/>
          </p:cNvPicPr>
          <p:nvPr/>
        </p:nvPicPr>
        <p:blipFill>
          <a:blip r:embed="rId1"/>
          <a:srcRect l="-13" r="-13" t="0" b="0"/>
          <a:stretch/>
        </p:blipFill>
        <p:spPr>
          <a:xfrm>
            <a:off x="819150" y="1706246"/>
            <a:ext cx="5956300" cy="3968750"/>
          </a:xfrm>
          <a:prstGeom prst="roundRect">
            <a:avLst>
              <a:gd name="adj" fmla="val 176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815975" y="1703071"/>
            <a:ext cx="5962650" cy="3975100"/>
          </a:xfrm>
          <a:prstGeom prst="roundRect">
            <a:avLst>
              <a:gd name="adj" fmla="val 1837"/>
            </a:avLst>
          </a:prstGeom>
          <a:noFill/>
          <a:ln w="6350">
            <a:solidFill>
              <a:srgbClr val="D6DED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010400" y="2573021"/>
            <a:ext cx="4499864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Обвязка собрана на макетной плате 40 × 60 мм, которая надевается на гребёнки ESP32. Плату можно снять и заменить, не распаивая обвязку.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010400" y="3512821"/>
            <a:ext cx="449986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C64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Геркон паяется последним: стеклянную колбу легко расколоть пинцетом.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010400" y="4114800"/>
            <a:ext cx="4499864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Провода датчика идут в клеммник, а не в разъём Dupont: в контейнере разъём разбалтывается от вибрации при выгрузке.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2800" y="6238242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1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Сборка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1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Откуда берётся полгода работы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539242"/>
          <a:ext cx="6985000" cy="1686560"/>
        </p:xfrm>
        <a:graphic>
          <a:graphicData uri="http://schemas.openxmlformats.org/drawingml/2006/table">
            <a:tbl>
              <a:tblPr/>
              <a:tblGrid>
                <a:gridCol w="3213100"/>
                <a:gridCol w="1885950"/>
                <a:gridCol w="1885950"/>
              </a:tblGrid>
              <a:tr h="42164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023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Режим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023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LOLIN D32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023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ESP32 DevKit v1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8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3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Глубокий сон, датчик выключен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20–150 мкА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5–10 мА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3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Измерение, датчик включён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40–60 мА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40–60 мА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3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Передача по Wi-Fi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120–180 мА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120–180 мА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3390900"/>
            <a:ext cx="7194550" cy="743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Цикл: пробуждение на 3 секунды при 120 мА — около 0.1 мА·ч. При интервале 15 минут выходит примерно 10 мА·ч в сутки. Аккумулятор 2500 мА·ч с учётом саморазряда даёт около полугода.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8080375" y="1542417"/>
            <a:ext cx="3295650" cy="2068830"/>
          </a:xfrm>
          <a:prstGeom prst="roundRect">
            <a:avLst>
              <a:gd name="adj" fmla="val 5371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12150" y="1774192"/>
            <a:ext cx="291706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Выбор платы решает всё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12150" y="2106929"/>
            <a:ext cx="2917063" cy="688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 обычным DevKit тот же аккумулятор сядет за две–три недели. Разница — только в токе сна.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080375" y="3769996"/>
            <a:ext cx="3295650" cy="2068830"/>
          </a:xfrm>
          <a:prstGeom prst="roundRect">
            <a:avLst>
              <a:gd name="adj" fmla="val 5371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12150" y="4001771"/>
            <a:ext cx="291706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Отправка по изменению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312150" y="4334508"/>
            <a:ext cx="2917063" cy="90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Порог delta_pct и период heartbeat_s задаются с сервера: можно подстроить под конкретный двор, не перепрошивая устройство.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2800" y="6238242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1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Энергопотребление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1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9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Протокол рассчитан на спящее устройство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42417"/>
            <a:ext cx="3380317" cy="3803650"/>
          </a:xfrm>
          <a:prstGeom prst="roundRect">
            <a:avLst>
              <a:gd name="adj" fmla="val 3287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7750" y="1774192"/>
            <a:ext cx="3004270" cy="51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Настройки — retained-сообщение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47750" y="2350771"/>
            <a:ext cx="3004270" cy="1572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Команду в произвольный момент спящее устройство не примет. Оно просыпается, подписывается и получает последнюю версию настроек. Версия возвращается в телеметрии — сервер видит, что настройки применены.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05842" y="1542417"/>
            <a:ext cx="3380317" cy="3803650"/>
          </a:xfrm>
          <a:prstGeom prst="roundRect">
            <a:avLst>
              <a:gd name="adj" fmla="val 3287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37617" y="1774192"/>
            <a:ext cx="300427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QoS 1 и дедупликация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37617" y="2106929"/>
            <a:ext cx="3004270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Уникальный индекс по устройству, идентификатору включения и номеру пакета. Разрывы номеров дают метрику потерь, а перезагрузка не путается с потерей связи.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95708" y="1542417"/>
            <a:ext cx="3380317" cy="3803650"/>
          </a:xfrm>
          <a:prstGeom prst="roundRect">
            <a:avLst>
              <a:gd name="adj" fmla="val 3287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7483" y="1774192"/>
            <a:ext cx="300427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Last Will не используется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7483" y="2106929"/>
            <a:ext cx="3004270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Для спящего устройства брокер объявлял бы офлайн после каждого засыпания. Статус «нет связи» считает сервер по времени последнего пакета и периоду опроса.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56286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Протокол описан формально: MQTT — в AsyncAPI, REST — в OpenAPI, живая версия на /api/docs.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42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1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Протокол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1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Приложение диспетчера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42417"/>
            <a:ext cx="3380317" cy="2005330"/>
          </a:xfrm>
          <a:prstGeom prst="roundRect">
            <a:avLst>
              <a:gd name="adj" fmla="val 5541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7750" y="1774192"/>
            <a:ext cx="300427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Карта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47750" y="2106929"/>
            <a:ext cx="3004270" cy="688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Метки меняют цвет по заполненности. Обновления приходят по WebSocket — страницу перезагружать не нужно.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05842" y="1542417"/>
            <a:ext cx="3380317" cy="2005330"/>
          </a:xfrm>
          <a:prstGeom prst="roundRect">
            <a:avLst>
              <a:gd name="adj" fmla="val 5541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37617" y="1774192"/>
            <a:ext cx="300427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Карточка контейнера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37617" y="2106929"/>
            <a:ext cx="3004270" cy="688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Графики за сутки, неделю и месяц, история событий, прогноз заполнения и кнопка «вывезли».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95708" y="1542417"/>
            <a:ext cx="3380317" cy="2005330"/>
          </a:xfrm>
          <a:prstGeom prst="roundRect">
            <a:avLst>
              <a:gd name="adj" fmla="val 5541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7483" y="1774192"/>
            <a:ext cx="300427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Маршрут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7483" y="2106929"/>
            <a:ext cx="3004270" cy="688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Контейнеры выше порога собираются в маршрут и открываются в картах одной ссылкой.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5975" y="3833496"/>
            <a:ext cx="3380317" cy="2005330"/>
          </a:xfrm>
          <a:prstGeom prst="roundRect">
            <a:avLst>
              <a:gd name="adj" fmla="val 5541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7750" y="4065271"/>
            <a:ext cx="300427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Привязка по QR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47750" y="4398008"/>
            <a:ext cx="3004270" cy="688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Сканер в браузере читает код с наклейки. Есть ручной ввод: сканер требует HTTPS.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05842" y="3833496"/>
            <a:ext cx="3380317" cy="2005330"/>
          </a:xfrm>
          <a:prstGeom prst="roundRect">
            <a:avLst>
              <a:gd name="adj" fmla="val 5541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37617" y="4065271"/>
            <a:ext cx="300427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Роли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37617" y="4398008"/>
            <a:ext cx="3004270" cy="688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Монтажник, диспетчер, водитель и администратор видят разное и получают разные уведомления.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95708" y="3833496"/>
            <a:ext cx="3380317" cy="2005330"/>
          </a:xfrm>
          <a:prstGeom prst="roundRect">
            <a:avLst>
              <a:gd name="adj" fmla="val 5541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7483" y="4065271"/>
            <a:ext cx="300427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Журнал действий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7483" y="4398008"/>
            <a:ext cx="3004270" cy="688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Все действия пользователей пишутся в audit_log: кто отвязал устройство и когда.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42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1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Интерфейс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1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9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919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Обратная связь, когда диспетчер не за компьютером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986279"/>
            <a:ext cx="91567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Телеграм-бот отправляет уведомление в момент события и принимает подтверждение одной кнопкой. Это закрывает требование об обратной связи, когда пользователь не рядом с устройством.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5975" y="3068954"/>
            <a:ext cx="3380317" cy="2769870"/>
          </a:xfrm>
          <a:prstGeom prst="roundRect">
            <a:avLst>
              <a:gd name="adj" fmla="val 4012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3300729"/>
            <a:ext cx="300427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Уведомления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7750" y="3633471"/>
            <a:ext cx="3004270" cy="90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Заполнен на 80 %, переполнен, нет связи, разряжена батарея, крышка открыта долго. Каждому событию — свой получатель.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05842" y="3068954"/>
            <a:ext cx="3380317" cy="2769870"/>
          </a:xfrm>
          <a:prstGeom prst="roundRect">
            <a:avLst>
              <a:gd name="adj" fmla="val 4012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7617" y="3300729"/>
            <a:ext cx="300427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Кнопка «Принято»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37617" y="3633471"/>
            <a:ext cx="300427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Подтверждение пишется в базу: видно, кто и когда принял событие в работу.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95708" y="3068954"/>
            <a:ext cx="3380317" cy="2769870"/>
          </a:xfrm>
          <a:prstGeom prst="roundRect">
            <a:avLst>
              <a:gd name="adj" fmla="val 4012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7483" y="3300729"/>
            <a:ext cx="300427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Команды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7483" y="3633471"/>
            <a:ext cx="3004270" cy="688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Статус контейнера, список переполненных, последние события и маршрут вывоза ссылкой на карты.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42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1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Уведомления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1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Первое включение без компьютера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42417"/>
            <a:ext cx="3380317" cy="3803650"/>
          </a:xfrm>
          <a:prstGeom prst="roundRect">
            <a:avLst>
              <a:gd name="adj" fmla="val 3287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7750" y="1774192"/>
            <a:ext cx="300427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 · Wi-Fi без прошивки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47750" y="2106929"/>
            <a:ext cx="3004270" cy="90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Устройство поднимает точку доступа и показывает портал. Монтажник вводит сеть с телефона — паять и прошивать ничего не нужно.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05842" y="1542417"/>
            <a:ext cx="3380317" cy="3803650"/>
          </a:xfrm>
          <a:prstGeom prst="roundRect">
            <a:avLst>
              <a:gd name="adj" fmla="val 3287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37617" y="1774192"/>
            <a:ext cx="300427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 · Привязка по QR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37617" y="2106929"/>
            <a:ext cx="3004270" cy="90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 корпусе наклейка с кодом. Код хранится хешем, перебор блокируется. Устройство появляется на карте сразу после сканирования.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95708" y="1542417"/>
            <a:ext cx="3380317" cy="3803650"/>
          </a:xfrm>
          <a:prstGeom prst="roundRect">
            <a:avLst>
              <a:gd name="adj" fmla="val 3287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7483" y="1774192"/>
            <a:ext cx="300427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 · Калибровка кнопкой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7483" y="2106929"/>
            <a:ext cx="3004270" cy="90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Одно нажатие на пустом контейнере задаёт нулевой уровень. Светодиод и зуммер подтверждают, что замер принят.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56286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«Заводская» подготовка устройств делается скриптом: он прошивает, заводит учётную запись в брокере и печатает наклейку с QR-кодом.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42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1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Plug and Play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1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9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Что видит разработчик, а не диспетчер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539242"/>
          <a:ext cx="6985000" cy="2951480"/>
        </p:xfrm>
        <a:graphic>
          <a:graphicData uri="http://schemas.openxmlformats.org/drawingml/2006/table">
            <a:tbl>
              <a:tblPr/>
              <a:tblGrid>
                <a:gridCol w="2794000"/>
                <a:gridCol w="4191000"/>
              </a:tblGrid>
              <a:tr h="42164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023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Панель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023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Зачем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DD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3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Доступность устройств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кто перестал выходить на связь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3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Потери сообщений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разрывы номеров пакетов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3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Задержка доставки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сколько шло от датчика до базы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3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Время бодрствования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растёт — батарея сядет раньше срока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3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Уровень сигнала и заряд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где Wi-Fi на пределе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3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Причины перезагрузок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паника прошивки видна сразу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080375" y="1542417"/>
            <a:ext cx="3295650" cy="2068830"/>
          </a:xfrm>
          <a:prstGeom prst="roundRect">
            <a:avLst>
              <a:gd name="adj" fmla="val 5371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312150" y="1774192"/>
            <a:ext cx="291706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Дашборд генерируется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312150" y="2106935"/>
            <a:ext cx="2917063" cy="90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JSON дашборда собирает скрипт: руками его не правят, иначе изменения теряются при следующем обновлении.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080375" y="3769990"/>
            <a:ext cx="3295650" cy="2068830"/>
          </a:xfrm>
          <a:prstGeom prst="roundRect">
            <a:avLst>
              <a:gd name="adj" fmla="val 5371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12150" y="4001765"/>
            <a:ext cx="291706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Эмулятор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312150" y="4334508"/>
            <a:ext cx="2917063" cy="90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Двенадцать виртуальных контейнеров поднимаются одной командой — систему можно показать без единого железного устройства.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2800" y="6238242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1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Мониторинг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1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Путь проб: что выкинули и почему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539242"/>
          <a:ext cx="10566400" cy="3634740"/>
        </p:xfrm>
        <a:graphic>
          <a:graphicData uri="http://schemas.openxmlformats.org/drawingml/2006/table">
            <a:tbl>
              <a:tblPr/>
              <a:tblGrid>
                <a:gridCol w="2430272"/>
                <a:gridCol w="2641600"/>
                <a:gridCol w="5494528"/>
              </a:tblGrid>
              <a:tr h="40386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023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Было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023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Стало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023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Почему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8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023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HC-SR04 на макете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A02YYUW по UART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влага, 5 В и ширина луча; UART вместо длительности импульса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023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Плата DevKit v1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LOLIN D32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ток сна 5–10 мА против 20–150 мкА: разница в разы по сроку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023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PubSubClient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arduino-mqtt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нужен QoS 1: устройство должно знать, что данные дошли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023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Last Will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расчёт статуса на сервере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для спящего устройства брокер объявлял бы офлайн каждый час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023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Отправка каждые 15 минут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отправка по изменению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главная экономия батареи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023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Замер при открытой крышке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ожидание закрытия по геркону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рука или мешок в луче давали ложные 100 %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023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ArduinoJson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свой разбор JSON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меньше памяти, а логика тестируется на обычном компьютере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023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Винты внутри уплотнителя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винты по фланцу снаружи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D5F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вода шла внутрь по резьбе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42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1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Пробы и ошибки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1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9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Что работает, а что ещё нет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42417"/>
            <a:ext cx="5162550" cy="4296410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799592"/>
            <a:ext cx="478764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Проверено на стенде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73150" y="2172965"/>
            <a:ext cx="4787646" cy="1263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подготовка устройства, привязка по QR, калибровка</a:t>
            </a:r>
            <a:endParaRPr lang="en-US" sz="1300" dirty="0"/>
          </a:p>
          <a:p>
            <a:pPr algn="l" marL="198120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телеметрия, события, уведомления, подтверждение</a:t>
            </a:r>
            <a:endParaRPr lang="en-US" sz="1300" dirty="0"/>
          </a:p>
          <a:p>
            <a:pPr algn="l" marL="198120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история, прогноз, маршрут, метрики</a:t>
            </a:r>
            <a:endParaRPr lang="en-US" sz="1300" dirty="0"/>
          </a:p>
          <a:p>
            <a:pPr algn="l" marL="198120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48 тестов сервера и 51 проверка логики прошивки</a:t>
            </a:r>
            <a:endParaRPr lang="en-US" sz="1300" dirty="0"/>
          </a:p>
          <a:p>
            <a:pPr algn="l" marL="198120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сборка обоих вариантов прошивки и фронтенда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3475" y="1542417"/>
            <a:ext cx="5162550" cy="4296410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70650" y="1799592"/>
            <a:ext cx="478764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Ещё не проверено вживую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70650" y="2172965"/>
            <a:ext cx="4787646" cy="1263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сборка docker-образов: в песочнице был закрыт реестр</a:t>
            </a:r>
            <a:endParaRPr lang="en-US" sz="1300" dirty="0"/>
          </a:p>
          <a:p>
            <a:pPr algn="l" marL="198120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работа на реальном ESP32</a:t>
            </a:r>
            <a:endParaRPr lang="en-US" sz="1300" dirty="0"/>
          </a:p>
          <a:p>
            <a:pPr algn="l" marL="198120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реальный Telegram Bot API — использовалась заглушка</a:t>
            </a:r>
            <a:endParaRPr lang="en-US" sz="1300" dirty="0"/>
          </a:p>
          <a:p>
            <a:pPr algn="l" marL="198120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печать корпуса и посадка вставки датчика</a:t>
            </a:r>
            <a:endParaRPr lang="en-US" sz="1300" dirty="0"/>
          </a:p>
          <a:p>
            <a:pPr algn="l" marL="198120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фотографии и видео собранного устройства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2800" y="6238242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1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Состояние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1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Кто что делал и что дальше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42417"/>
            <a:ext cx="3380317" cy="2005330"/>
          </a:xfrm>
          <a:prstGeom prst="roundRect">
            <a:avLst>
              <a:gd name="adj" fmla="val 5541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7750" y="1774192"/>
            <a:ext cx="300427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Электроника и прошивка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47750" y="2106935"/>
            <a:ext cx="3004270" cy="688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Схемы, пайка, прошивка, энергопотребление, заводская подготовка устройств.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05842" y="1542417"/>
            <a:ext cx="3380317" cy="2005330"/>
          </a:xfrm>
          <a:prstGeom prst="roundRect">
            <a:avLst>
              <a:gd name="adj" fmla="val 5541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37617" y="1774192"/>
            <a:ext cx="300427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Сервер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37617" y="2106935"/>
            <a:ext cx="3004270" cy="688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Брокер, API, база, правила уведомлений, бот, развёртывание, эмулятор и мониторинг.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95708" y="1542417"/>
            <a:ext cx="3380317" cy="2005330"/>
          </a:xfrm>
          <a:prstGeom prst="roundRect">
            <a:avLst>
              <a:gd name="adj" fmla="val 5541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7483" y="1774192"/>
            <a:ext cx="300427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Дизайн и интерфейс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7483" y="2106935"/>
            <a:ext cx="300427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Корпус и CAD, веб-приложение, карта, фотографии, видео и эта презентация.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5975" y="3833490"/>
            <a:ext cx="3380317" cy="2005330"/>
          </a:xfrm>
          <a:prstGeom prst="roundRect">
            <a:avLst>
              <a:gd name="adj" fmla="val 5541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7750" y="4065265"/>
            <a:ext cx="300427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Дальше: печать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47750" y="4398008"/>
            <a:ext cx="3004270" cy="688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Напечатать тестовую пластину, уточнить посадку датчика, затем корпус целиком.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05842" y="3833490"/>
            <a:ext cx="3380317" cy="2005330"/>
          </a:xfrm>
          <a:prstGeom prst="roundRect">
            <a:avLst>
              <a:gd name="adj" fmla="val 5541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37617" y="4065265"/>
            <a:ext cx="300427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Дальше: съёмка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37617" y="4398008"/>
            <a:ext cx="3004270" cy="90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Тринадцать кадров и видео на две с половиной минуты — сценарий готов, нужны собранное устройство и контейнер.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95708" y="3833490"/>
            <a:ext cx="3380317" cy="2005330"/>
          </a:xfrm>
          <a:prstGeom prst="roundRect">
            <a:avLst>
              <a:gd name="adj" fmla="val 5541"/>
            </a:avLst>
          </a:prstGeom>
          <a:solidFill>
            <a:srgbClr val="FFFFFF"/>
          </a:solidFill>
          <a:ln w="6350">
            <a:solidFill>
              <a:srgbClr val="D6DE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7483" y="4065265"/>
            <a:ext cx="300427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3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Дальше: поле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7483" y="4398008"/>
            <a:ext cx="3004270" cy="688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D5F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Поставить два устройства на реальные контейнеры и прожить месяц на батарее.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42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1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Команда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1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92300"/>
            <a:ext cx="9810750" cy="13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EAF2E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Вывоз по факту, а не по расписанию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12800" y="3512815"/>
            <a:ext cx="8502650" cy="932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A7BF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Репозиторий с прошивкой, сервером, приложением, схемами и моделями корпуса. Документация — от развёртывания до сборки устройства своими руками.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12800" y="46990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FC0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Спасибо. Готовы ответить на вопросы.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BinSense</dc:title>
  <dc:subject>PptxGenJS Presentation</dc:subject>
  <dc:creator>PptxGenJS</dc:creator>
  <cp:lastModifiedBy>PptxGenJS</cp:lastModifiedBy>
  <cp:revision>1</cp:revision>
  <dcterms:created xsi:type="dcterms:W3CDTF">2026-09-23T11:41:45Z</dcterms:created>
  <dcterms:modified xsi:type="dcterms:W3CDTF">2026-09-23T11:41:45Z</dcterms:modified>
</cp:coreProperties>
</file>